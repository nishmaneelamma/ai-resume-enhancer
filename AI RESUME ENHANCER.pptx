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Agrandir Bold" charset="1" panose="00000800000000000000"/>
      <p:regular r:id="rId20"/>
    </p:embeddedFont>
    <p:embeddedFont>
      <p:font typeface="Agrandir" charset="1" panose="00000500000000000000"/>
      <p:regular r:id="rId21"/>
    </p:embeddedFont>
    <p:embeddedFont>
      <p:font typeface="Poppins Semi-Bold" charset="1" panose="000007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5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187" y="5203142"/>
            <a:ext cx="18628374" cy="2770576"/>
            <a:chOff x="0" y="0"/>
            <a:chExt cx="4906238" cy="729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6238" cy="729699"/>
            </a:xfrm>
            <a:custGeom>
              <a:avLst/>
              <a:gdLst/>
              <a:ahLst/>
              <a:cxnLst/>
              <a:rect r="r" b="b" t="t" l="l"/>
              <a:pathLst>
                <a:path h="729699" w="4906238">
                  <a:moveTo>
                    <a:pt x="0" y="0"/>
                  </a:moveTo>
                  <a:lnTo>
                    <a:pt x="4906238" y="0"/>
                  </a:lnTo>
                  <a:lnTo>
                    <a:pt x="4906238" y="729699"/>
                  </a:lnTo>
                  <a:lnTo>
                    <a:pt x="0" y="729699"/>
                  </a:lnTo>
                  <a:close/>
                </a:path>
              </a:pathLst>
            </a:custGeom>
            <a:gradFill rotWithShape="true">
              <a:gsLst>
                <a:gs pos="0">
                  <a:srgbClr val="E39754">
                    <a:alpha val="100000"/>
                  </a:srgbClr>
                </a:gs>
                <a:gs pos="100000">
                  <a:srgbClr val="4611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06238" cy="79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0716" y="4603062"/>
            <a:ext cx="15346568" cy="3970736"/>
            <a:chOff x="0" y="0"/>
            <a:chExt cx="2440230" cy="631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0230" cy="631380"/>
            </a:xfrm>
            <a:custGeom>
              <a:avLst/>
              <a:gdLst/>
              <a:ahLst/>
              <a:cxnLst/>
              <a:rect r="r" b="b" t="t" l="l"/>
              <a:pathLst>
                <a:path h="631380" w="2440230">
                  <a:moveTo>
                    <a:pt x="12612" y="0"/>
                  </a:moveTo>
                  <a:lnTo>
                    <a:pt x="2427618" y="0"/>
                  </a:lnTo>
                  <a:cubicBezTo>
                    <a:pt x="2434584" y="0"/>
                    <a:pt x="2440230" y="5646"/>
                    <a:pt x="2440230" y="12612"/>
                  </a:cubicBezTo>
                  <a:lnTo>
                    <a:pt x="2440230" y="618768"/>
                  </a:lnTo>
                  <a:cubicBezTo>
                    <a:pt x="2440230" y="622113"/>
                    <a:pt x="2438901" y="625320"/>
                    <a:pt x="2436536" y="627686"/>
                  </a:cubicBezTo>
                  <a:cubicBezTo>
                    <a:pt x="2434171" y="630051"/>
                    <a:pt x="2430963" y="631380"/>
                    <a:pt x="2427618" y="631380"/>
                  </a:cubicBezTo>
                  <a:lnTo>
                    <a:pt x="12612" y="631380"/>
                  </a:lnTo>
                  <a:cubicBezTo>
                    <a:pt x="9267" y="631380"/>
                    <a:pt x="6059" y="630051"/>
                    <a:pt x="3694" y="627686"/>
                  </a:cubicBezTo>
                  <a:cubicBezTo>
                    <a:pt x="1329" y="625320"/>
                    <a:pt x="0" y="622113"/>
                    <a:pt x="0" y="618768"/>
                  </a:cubicBezTo>
                  <a:lnTo>
                    <a:pt x="0" y="12612"/>
                  </a:lnTo>
                  <a:cubicBezTo>
                    <a:pt x="0" y="9267"/>
                    <a:pt x="1329" y="6059"/>
                    <a:pt x="3694" y="3694"/>
                  </a:cubicBezTo>
                  <a:cubicBezTo>
                    <a:pt x="6059" y="1329"/>
                    <a:pt x="9267" y="0"/>
                    <a:pt x="12612" y="0"/>
                  </a:cubicBezTo>
                  <a:close/>
                </a:path>
              </a:pathLst>
            </a:custGeom>
            <a:blipFill>
              <a:blip r:embed="rId2">
                <a:alphaModFix amt="81000"/>
              </a:blip>
              <a:stretch>
                <a:fillRect l="0" t="-77059" r="0" b="-77059"/>
              </a:stretch>
            </a:blipFill>
            <a:ln w="38100" cap="rnd">
              <a:solidFill>
                <a:srgbClr val="FFE6D0">
                  <a:alpha val="80784"/>
                </a:srgbClr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02702" y="8799102"/>
            <a:ext cx="15482596" cy="851499"/>
            <a:chOff x="0" y="0"/>
            <a:chExt cx="4077721" cy="2242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77721" cy="224263"/>
            </a:xfrm>
            <a:custGeom>
              <a:avLst/>
              <a:gdLst/>
              <a:ahLst/>
              <a:cxnLst/>
              <a:rect r="r" b="b" t="t" l="l"/>
              <a:pathLst>
                <a:path h="224263" w="4077721">
                  <a:moveTo>
                    <a:pt x="12501" y="0"/>
                  </a:moveTo>
                  <a:lnTo>
                    <a:pt x="4065220" y="0"/>
                  </a:lnTo>
                  <a:cubicBezTo>
                    <a:pt x="4072124" y="0"/>
                    <a:pt x="4077721" y="5597"/>
                    <a:pt x="4077721" y="12501"/>
                  </a:cubicBezTo>
                  <a:lnTo>
                    <a:pt x="4077721" y="211762"/>
                  </a:lnTo>
                  <a:cubicBezTo>
                    <a:pt x="4077721" y="218666"/>
                    <a:pt x="4072124" y="224263"/>
                    <a:pt x="4065220" y="224263"/>
                  </a:cubicBezTo>
                  <a:lnTo>
                    <a:pt x="12501" y="224263"/>
                  </a:lnTo>
                  <a:cubicBezTo>
                    <a:pt x="5597" y="224263"/>
                    <a:pt x="0" y="218666"/>
                    <a:pt x="0" y="211762"/>
                  </a:cubicBezTo>
                  <a:lnTo>
                    <a:pt x="0" y="12501"/>
                  </a:lnTo>
                  <a:cubicBezTo>
                    <a:pt x="0" y="5597"/>
                    <a:pt x="5597" y="0"/>
                    <a:pt x="12501" y="0"/>
                  </a:cubicBezTo>
                  <a:close/>
                </a:path>
              </a:pathLst>
            </a:custGeom>
            <a:solidFill>
              <a:srgbClr val="9D80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077721" cy="28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E6D0"/>
                  </a:solidFill>
                  <a:latin typeface="Poppins"/>
                  <a:ea typeface="Poppins"/>
                  <a:cs typeface="Poppins"/>
                  <a:sym typeface="Poppins"/>
                </a:rPr>
                <a:t>Jeevitha M | Nishma Neelamma | Janet Amber Mercy | Anamika Edathatta | Gayatri 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28700" y="9993502"/>
            <a:ext cx="16230600" cy="0"/>
          </a:xfrm>
          <a:prstGeom prst="line">
            <a:avLst/>
          </a:prstGeom>
          <a:ln cap="flat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321650" y="1094000"/>
            <a:ext cx="5644701" cy="844879"/>
            <a:chOff x="0" y="0"/>
            <a:chExt cx="1486670" cy="222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6670" cy="222520"/>
            </a:xfrm>
            <a:custGeom>
              <a:avLst/>
              <a:gdLst/>
              <a:ahLst/>
              <a:cxnLst/>
              <a:rect r="r" b="b" t="t" l="l"/>
              <a:pathLst>
                <a:path h="222520" w="1486670">
                  <a:moveTo>
                    <a:pt x="0" y="0"/>
                  </a:moveTo>
                  <a:lnTo>
                    <a:pt x="1486670" y="0"/>
                  </a:lnTo>
                  <a:lnTo>
                    <a:pt x="1486670" y="222520"/>
                  </a:lnTo>
                  <a:lnTo>
                    <a:pt x="0" y="222520"/>
                  </a:lnTo>
                  <a:close/>
                </a:path>
              </a:pathLst>
            </a:custGeom>
            <a:ln w="38100" cap="sq">
              <a:solidFill>
                <a:srgbClr val="FFE6D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86670" cy="28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-871390" y="1663926"/>
            <a:ext cx="1742779" cy="1742779"/>
          </a:xfrm>
          <a:custGeom>
            <a:avLst/>
            <a:gdLst/>
            <a:ahLst/>
            <a:cxnLst/>
            <a:rect r="r" b="b" t="t" l="l"/>
            <a:pathLst>
              <a:path h="1742779" w="1742779">
                <a:moveTo>
                  <a:pt x="0" y="0"/>
                </a:moveTo>
                <a:lnTo>
                  <a:pt x="1742780" y="0"/>
                </a:lnTo>
                <a:lnTo>
                  <a:pt x="1742780" y="1742780"/>
                </a:lnTo>
                <a:lnTo>
                  <a:pt x="0" y="174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7325467" y="1663926"/>
            <a:ext cx="1742779" cy="1742779"/>
          </a:xfrm>
          <a:custGeom>
            <a:avLst/>
            <a:gdLst/>
            <a:ahLst/>
            <a:cxnLst/>
            <a:rect r="r" b="b" t="t" l="l"/>
            <a:pathLst>
              <a:path h="1742779" w="1742779">
                <a:moveTo>
                  <a:pt x="0" y="0"/>
                </a:moveTo>
                <a:lnTo>
                  <a:pt x="1742779" y="0"/>
                </a:lnTo>
                <a:lnTo>
                  <a:pt x="1742779" y="1742780"/>
                </a:lnTo>
                <a:lnTo>
                  <a:pt x="0" y="174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00412" y="1707276"/>
            <a:ext cx="11487175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AI RESUME ENHANCER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57246" y="3160961"/>
            <a:ext cx="75735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emini AI enhancement · Professional templates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22837" y="1270695"/>
            <a:ext cx="544232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ated Resume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16292" y="-405158"/>
            <a:ext cx="6139106" cy="11106862"/>
            <a:chOff x="0" y="0"/>
            <a:chExt cx="951108" cy="17207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108" cy="1720744"/>
            </a:xfrm>
            <a:custGeom>
              <a:avLst/>
              <a:gdLst/>
              <a:ahLst/>
              <a:cxnLst/>
              <a:rect r="r" b="b" t="t" l="l"/>
              <a:pathLst>
                <a:path h="1720744" w="951108">
                  <a:moveTo>
                    <a:pt x="65576" y="0"/>
                  </a:moveTo>
                  <a:lnTo>
                    <a:pt x="885532" y="0"/>
                  </a:lnTo>
                  <a:cubicBezTo>
                    <a:pt x="902924" y="0"/>
                    <a:pt x="919603" y="6909"/>
                    <a:pt x="931901" y="19207"/>
                  </a:cubicBezTo>
                  <a:cubicBezTo>
                    <a:pt x="944199" y="31505"/>
                    <a:pt x="951108" y="48184"/>
                    <a:pt x="951108" y="65576"/>
                  </a:cubicBezTo>
                  <a:lnTo>
                    <a:pt x="951108" y="1655167"/>
                  </a:lnTo>
                  <a:cubicBezTo>
                    <a:pt x="951108" y="1691384"/>
                    <a:pt x="921749" y="1720744"/>
                    <a:pt x="885532" y="1720744"/>
                  </a:cubicBezTo>
                  <a:lnTo>
                    <a:pt x="65576" y="1720744"/>
                  </a:lnTo>
                  <a:cubicBezTo>
                    <a:pt x="29360" y="1720744"/>
                    <a:pt x="0" y="1691384"/>
                    <a:pt x="0" y="1655167"/>
                  </a:cubicBezTo>
                  <a:lnTo>
                    <a:pt x="0" y="65576"/>
                  </a:lnTo>
                  <a:cubicBezTo>
                    <a:pt x="0" y="29360"/>
                    <a:pt x="29360" y="0"/>
                    <a:pt x="65576" y="0"/>
                  </a:cubicBezTo>
                  <a:close/>
                </a:path>
              </a:pathLst>
            </a:custGeom>
            <a:blipFill>
              <a:blip r:embed="rId2"/>
              <a:stretch>
                <a:fillRect l="-40459" t="0" r="-40459" b="0"/>
              </a:stretch>
            </a:blipFill>
            <a:ln w="38100" cap="rnd">
              <a:solidFill>
                <a:srgbClr val="FFE6D0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91997" y="3597358"/>
            <a:ext cx="821282" cy="8212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804938" y="382554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5289" y="3597358"/>
            <a:ext cx="821282" cy="8212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68230" y="382554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5410" y="1940924"/>
            <a:ext cx="821282" cy="8212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04938" y="2153865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955289" y="1940924"/>
            <a:ext cx="821282" cy="82128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168230" y="2169374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1028700" y="9248775"/>
            <a:ext cx="10726995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5400000">
            <a:off x="-918812" y="484243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11476027" y="6167495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76832" y="8829290"/>
            <a:ext cx="3418026" cy="838970"/>
          </a:xfrm>
          <a:custGeom>
            <a:avLst/>
            <a:gdLst/>
            <a:ahLst/>
            <a:cxnLst/>
            <a:rect r="r" b="b" t="t" l="l"/>
            <a:pathLst>
              <a:path h="838970" w="3418026">
                <a:moveTo>
                  <a:pt x="0" y="0"/>
                </a:moveTo>
                <a:lnTo>
                  <a:pt x="3418027" y="0"/>
                </a:lnTo>
                <a:lnTo>
                  <a:pt x="3418027" y="838970"/>
                </a:lnTo>
                <a:lnTo>
                  <a:pt x="0" y="838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0040" y="7978243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1" y="0"/>
                </a:lnTo>
                <a:lnTo>
                  <a:pt x="1936011" y="394242"/>
                </a:lnTo>
                <a:lnTo>
                  <a:pt x="0" y="3942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991986" y="5028821"/>
            <a:ext cx="821282" cy="82128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222692" y="5241762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91997" y="6253476"/>
            <a:ext cx="859868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roblem Statement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48530" y="3530683"/>
            <a:ext cx="373912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Ca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ndidates don't know which k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eywords or skills are missing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09946" y="3438176"/>
            <a:ext cx="421955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nual formatting is time-consuming — 2 to 3 hour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s per application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95217" y="1797162"/>
            <a:ext cx="364574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75%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of resumes ar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 rejected by ATS filters before a human reads them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03321" y="1936401"/>
            <a:ext cx="355237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Ge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neric resumes fail to match job descripti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85727" y="5045762"/>
            <a:ext cx="373912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ne-size-fits-all r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esumes don't work across industries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1675" y="1450701"/>
            <a:ext cx="94246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9"/>
              </a:lnSpc>
              <a:spcBef>
                <a:spcPct val="0"/>
              </a:spcBef>
            </a:pPr>
            <a:r>
              <a:rPr lang="en-US" b="true" sz="7499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Propos</a:t>
            </a:r>
            <a:r>
              <a:rPr lang="en-US" b="true" sz="7499" strike="noStrike" u="non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06344" y="6637859"/>
            <a:ext cx="370063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Upload a res</a:t>
            </a: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ume → get an optimized, ATS-ready PDF back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59936" y="6637859"/>
            <a:ext cx="336812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No e</a:t>
            </a: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xternal API</a:t>
            </a: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s, no cloud dependency — fully offline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28852" y="4011869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16188" y="4011869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72850" y="6637859"/>
            <a:ext cx="3316972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Optional:</a:t>
            </a: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paste a Job Description for targeted tailoring</a:t>
            </a:r>
          </a:p>
        </p:txBody>
      </p:sp>
      <p:sp>
        <p:nvSpPr>
          <p:cNvPr name="AutoShape 8" id="8"/>
          <p:cNvSpPr/>
          <p:nvPr/>
        </p:nvSpPr>
        <p:spPr>
          <a:xfrm>
            <a:off x="4710514" y="6039433"/>
            <a:ext cx="4662112" cy="0"/>
          </a:xfrm>
          <a:prstGeom prst="line">
            <a:avLst/>
          </a:prstGeom>
          <a:ln cap="flat" w="95250">
            <a:solidFill>
              <a:srgbClr val="FFE6D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3057352" y="6039433"/>
            <a:ext cx="2039202" cy="0"/>
          </a:xfrm>
          <a:prstGeom prst="line">
            <a:avLst/>
          </a:prstGeom>
          <a:ln cap="rnd" w="95250">
            <a:solidFill>
              <a:srgbClr val="FFE6D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3113971" y="6039433"/>
            <a:ext cx="2116676" cy="0"/>
          </a:xfrm>
          <a:prstGeom prst="line">
            <a:avLst/>
          </a:prstGeom>
          <a:ln cap="rnd" w="95250">
            <a:solidFill>
              <a:srgbClr val="FFE6D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987156" y="6039433"/>
            <a:ext cx="4507152" cy="0"/>
          </a:xfrm>
          <a:prstGeom prst="line">
            <a:avLst/>
          </a:prstGeom>
          <a:ln cap="flat" w="95250">
            <a:solidFill>
              <a:srgbClr val="FFE6D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603524" y="4011869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028700" y="9248775"/>
            <a:ext cx="16230600" cy="9525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5400000">
            <a:off x="-632209" y="1593576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7009178" y="1593576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75995" y="8310905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0" y="0"/>
                </a:lnTo>
                <a:lnTo>
                  <a:pt x="1936010" y="394242"/>
                </a:lnTo>
                <a:lnTo>
                  <a:pt x="0" y="3942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052676" y="2691069"/>
            <a:ext cx="618264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Extract → Enhance → Export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9781" y="3751203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9781" y="678849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48775"/>
            <a:ext cx="12202228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834603"/>
            <a:ext cx="6247975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 Sy</a:t>
            </a:r>
            <a:r>
              <a:rPr lang="en-US" b="true" sz="6800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stem Architecture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-1030016" y="6596728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2"/>
                </a:lnTo>
                <a:lnTo>
                  <a:pt x="0" y="2080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72589" y="8829290"/>
            <a:ext cx="3418026" cy="838970"/>
          </a:xfrm>
          <a:custGeom>
            <a:avLst/>
            <a:gdLst/>
            <a:ahLst/>
            <a:cxnLst/>
            <a:rect r="r" b="b" t="t" l="l"/>
            <a:pathLst>
              <a:path h="838970" w="3418026">
                <a:moveTo>
                  <a:pt x="0" y="0"/>
                </a:moveTo>
                <a:lnTo>
                  <a:pt x="3418026" y="0"/>
                </a:lnTo>
                <a:lnTo>
                  <a:pt x="3418026" y="838970"/>
                </a:lnTo>
                <a:lnTo>
                  <a:pt x="0" y="838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30877" y="737854"/>
            <a:ext cx="9328423" cy="793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PDF Upload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Text Extraction (pdfplumber)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Section Detection (Rule-Based NLP)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Domain Classification (Keyword Scoring)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Enhancement Engine (Skills / Experience / Summary)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ATS Score Calculator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Template Renderer (HTML → PDF via wkhtmltopdf)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   ↓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Edit &amp; Download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33883" y="4803478"/>
            <a:ext cx="2934425" cy="2242921"/>
            <a:chOff x="0" y="0"/>
            <a:chExt cx="772853" cy="590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2853" cy="590728"/>
            </a:xfrm>
            <a:custGeom>
              <a:avLst/>
              <a:gdLst/>
              <a:ahLst/>
              <a:cxnLst/>
              <a:rect r="r" b="b" t="t" l="l"/>
              <a:pathLst>
                <a:path h="590728" w="772853">
                  <a:moveTo>
                    <a:pt x="0" y="0"/>
                  </a:moveTo>
                  <a:lnTo>
                    <a:pt x="772853" y="0"/>
                  </a:lnTo>
                  <a:lnTo>
                    <a:pt x="772853" y="590728"/>
                  </a:lnTo>
                  <a:lnTo>
                    <a:pt x="0" y="590728"/>
                  </a:lnTo>
                  <a:close/>
                </a:path>
              </a:pathLst>
            </a:custGeom>
            <a:gradFill rotWithShape="true">
              <a:gsLst>
                <a:gs pos="0">
                  <a:srgbClr val="E39754">
                    <a:alpha val="100000"/>
                  </a:srgbClr>
                </a:gs>
                <a:gs pos="100000">
                  <a:srgbClr val="4611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72853" cy="657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17083" y="2016821"/>
            <a:ext cx="821282" cy="8212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30025" y="2229762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26840" y="3538262"/>
            <a:ext cx="821282" cy="8212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339781" y="3751203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6840" y="5056906"/>
            <a:ext cx="821282" cy="8212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339781" y="5269847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126840" y="6575550"/>
            <a:ext cx="821282" cy="8212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339781" y="678849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424761" y="4267286"/>
            <a:ext cx="7746155" cy="3315305"/>
            <a:chOff x="0" y="0"/>
            <a:chExt cx="965367" cy="4131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5367" cy="413171"/>
            </a:xfrm>
            <a:custGeom>
              <a:avLst/>
              <a:gdLst/>
              <a:ahLst/>
              <a:cxnLst/>
              <a:rect r="r" b="b" t="t" l="l"/>
              <a:pathLst>
                <a:path h="413171" w="965367">
                  <a:moveTo>
                    <a:pt x="51972" y="0"/>
                  </a:moveTo>
                  <a:lnTo>
                    <a:pt x="913395" y="0"/>
                  </a:lnTo>
                  <a:cubicBezTo>
                    <a:pt x="942099" y="0"/>
                    <a:pt x="965367" y="23268"/>
                    <a:pt x="965367" y="51972"/>
                  </a:cubicBezTo>
                  <a:lnTo>
                    <a:pt x="965367" y="361199"/>
                  </a:lnTo>
                  <a:cubicBezTo>
                    <a:pt x="965367" y="389902"/>
                    <a:pt x="942099" y="413171"/>
                    <a:pt x="913395" y="413171"/>
                  </a:cubicBezTo>
                  <a:lnTo>
                    <a:pt x="51972" y="413171"/>
                  </a:lnTo>
                  <a:cubicBezTo>
                    <a:pt x="23268" y="413171"/>
                    <a:pt x="0" y="389902"/>
                    <a:pt x="0" y="361199"/>
                  </a:cubicBezTo>
                  <a:lnTo>
                    <a:pt x="0" y="51972"/>
                  </a:lnTo>
                  <a:cubicBezTo>
                    <a:pt x="0" y="23268"/>
                    <a:pt x="23268" y="0"/>
                    <a:pt x="5197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834" r="0" b="-27834"/>
              </a:stretch>
            </a:blipFill>
            <a:ln w="38100" cap="rnd">
              <a:solidFill>
                <a:srgbClr val="FFE6D0"/>
              </a:solidFill>
              <a:prstDash val="solid"/>
              <a:round/>
            </a:ln>
          </p:spPr>
        </p:sp>
      </p:grpSp>
      <p:sp>
        <p:nvSpPr>
          <p:cNvPr name="AutoShape 23" id="23"/>
          <p:cNvSpPr/>
          <p:nvPr/>
        </p:nvSpPr>
        <p:spPr>
          <a:xfrm>
            <a:off x="1028700" y="9248775"/>
            <a:ext cx="12202228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5400000">
            <a:off x="14672090" y="-789522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2"/>
                </a:lnTo>
                <a:lnTo>
                  <a:pt x="0" y="2080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-1030016" y="6596728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2"/>
                </a:lnTo>
                <a:lnTo>
                  <a:pt x="0" y="2080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117548" y="791759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1" y="0"/>
                </a:lnTo>
                <a:lnTo>
                  <a:pt x="1936011" y="394242"/>
                </a:lnTo>
                <a:lnTo>
                  <a:pt x="0" y="394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189547" y="1681337"/>
            <a:ext cx="4090835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profession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al domains supported: Tech, Law, Finance, Healthcare, Marke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ting, and more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89547" y="3378991"/>
            <a:ext cx="471358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ach domain has its own: action v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erbs, hard skills, soft skills, industry terms, role labels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89547" y="5073907"/>
            <a:ext cx="471358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Falls back to "G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eneral" profile if no domain strongl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y matches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89547" y="6416279"/>
            <a:ext cx="471358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This 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classification drives ALL downstr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eam enhancement decisions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57273" y="1956924"/>
            <a:ext cx="79953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Doma</a:t>
            </a: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 </a:t>
            </a:r>
          </a:p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Detection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6259" y="2326902"/>
            <a:ext cx="644881" cy="6448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48775"/>
            <a:ext cx="16230600" cy="9525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2905314" y="3179618"/>
            <a:ext cx="5118292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umm</a:t>
            </a: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ary Enhancer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Checks if existing summary is meaningful (&gt;80 characters)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If weak or missing → generates a domain-specific template summary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JD provided? → Weaves matching skills into the summary naturally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85318" y="456565"/>
            <a:ext cx="9717365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Enhancement Engine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5659067" y="-433678"/>
            <a:ext cx="1742779" cy="1742779"/>
          </a:xfrm>
          <a:custGeom>
            <a:avLst/>
            <a:gdLst/>
            <a:ahLst/>
            <a:cxnLst/>
            <a:rect r="r" b="b" t="t" l="l"/>
            <a:pathLst>
              <a:path h="1742779" w="1742779">
                <a:moveTo>
                  <a:pt x="0" y="0"/>
                </a:moveTo>
                <a:lnTo>
                  <a:pt x="1742780" y="0"/>
                </a:lnTo>
                <a:lnTo>
                  <a:pt x="1742780" y="1742780"/>
                </a:lnTo>
                <a:lnTo>
                  <a:pt x="0" y="174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230928" y="2326902"/>
            <a:ext cx="644881" cy="64488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68594" y="2326902"/>
            <a:ext cx="644881" cy="6448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74015" y="3179618"/>
            <a:ext cx="5354998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Exper</a:t>
            </a: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ience Enhancer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Str</a:t>
            </a: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ips weak openers: "responsible for", "assisted with", "helped with"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Replaces with domain-specific power verbs (Law: Represented, Argued; Tech: Architected, Deployed)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Rotates verbs so no two bullets start the same way</a:t>
            </a:r>
          </a:p>
          <a:p>
            <a:pPr algn="l" marL="0" indent="0" lvl="0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84137" y="3179618"/>
            <a:ext cx="5113578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Sk</a:t>
            </a: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ills Enhancer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Parses existing</a:t>
            </a: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 skills (comma / pipe / semicolon separated)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If fewer than 6 skills found → supplements from domain skill bank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JD provided? → Prioritises JD-matched skills first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Caps output at 10–12 skills to avoid clutter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5985" y="5139569"/>
            <a:ext cx="479147" cy="479147"/>
          </a:xfrm>
          <a:custGeom>
            <a:avLst/>
            <a:gdLst/>
            <a:ahLst/>
            <a:cxnLst/>
            <a:rect r="r" b="b" t="t" l="l"/>
            <a:pathLst>
              <a:path h="479147" w="479147">
                <a:moveTo>
                  <a:pt x="0" y="0"/>
                </a:moveTo>
                <a:lnTo>
                  <a:pt x="479147" y="0"/>
                </a:lnTo>
                <a:lnTo>
                  <a:pt x="479147" y="479147"/>
                </a:lnTo>
                <a:lnTo>
                  <a:pt x="0" y="47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4238" y="0"/>
            <a:ext cx="18053762" cy="10287000"/>
          </a:xfrm>
          <a:custGeom>
            <a:avLst/>
            <a:gdLst/>
            <a:ahLst/>
            <a:cxnLst/>
            <a:rect r="r" b="b" t="t" l="l"/>
            <a:pathLst>
              <a:path h="10287000" w="18053762">
                <a:moveTo>
                  <a:pt x="0" y="0"/>
                </a:moveTo>
                <a:lnTo>
                  <a:pt x="18053762" y="0"/>
                </a:lnTo>
                <a:lnTo>
                  <a:pt x="18053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-9073" r="0" b="-7833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20704" y="1309102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4" y="3827649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704" y="6350073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0350" y="7853873"/>
            <a:ext cx="2755052" cy="561029"/>
          </a:xfrm>
          <a:custGeom>
            <a:avLst/>
            <a:gdLst/>
            <a:ahLst/>
            <a:cxnLst/>
            <a:rect r="r" b="b" t="t" l="l"/>
            <a:pathLst>
              <a:path h="561029" w="2755052">
                <a:moveTo>
                  <a:pt x="0" y="0"/>
                </a:moveTo>
                <a:lnTo>
                  <a:pt x="2755052" y="0"/>
                </a:lnTo>
                <a:lnTo>
                  <a:pt x="2755052" y="561029"/>
                </a:lnTo>
                <a:lnTo>
                  <a:pt x="0" y="56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52819" y="3455006"/>
            <a:ext cx="8042313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ATS</a:t>
            </a:r>
            <a:r>
              <a:rPr lang="en-US" b="true" sz="6800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 Score Calculation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40997" y="5998816"/>
            <a:ext cx="647498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Ed</a:t>
            </a:r>
            <a:r>
              <a:rPr lang="en-US" b="true" sz="6800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it Before Download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6328" y="914400"/>
            <a:ext cx="8884025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Sect</a:t>
            </a:r>
            <a:r>
              <a:rPr lang="en-US" b="true" sz="6800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ion Extraction (NLP)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48775"/>
            <a:ext cx="16230600" cy="9525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-632209" y="1593576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7009178" y="1593576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104064" y="3063738"/>
          <a:ext cx="12249372" cy="5829300"/>
        </p:xfrm>
        <a:graphic>
          <a:graphicData uri="http://schemas.openxmlformats.org/drawingml/2006/table">
            <a:tbl>
              <a:tblPr/>
              <a:tblGrid>
                <a:gridCol w="3014683"/>
                <a:gridCol w="4452585"/>
                <a:gridCol w="4782104"/>
              </a:tblGrid>
              <a:tr h="10771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TEMPLATE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STYLE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LAYOUT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5840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NOAH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Black &amp; White Bold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Single column, all-caps header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5840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REESE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Minimalist Sidebar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Two-column, dark left panel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5840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OLIVIA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Blue &amp; White Clean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Two-column, tag-based skills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431675" y="1450701"/>
            <a:ext cx="94246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9"/>
              </a:lnSpc>
              <a:spcBef>
                <a:spcPct val="0"/>
              </a:spcBef>
            </a:pPr>
            <a:r>
              <a:rPr lang="en-US" b="true" sz="7499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Resum</a:t>
            </a:r>
            <a:r>
              <a:rPr lang="en-US" b="true" sz="7499" strike="noStrike" u="non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e Templates</a:t>
            </a:r>
          </a:p>
        </p:txBody>
      </p:sp>
      <p:sp>
        <p:nvSpPr>
          <p:cNvPr name="AutoShape 7" id="7"/>
          <p:cNvSpPr/>
          <p:nvPr/>
        </p:nvSpPr>
        <p:spPr>
          <a:xfrm>
            <a:off x="6101052" y="5124450"/>
            <a:ext cx="6492240" cy="0"/>
          </a:xfrm>
          <a:prstGeom prst="line">
            <a:avLst/>
          </a:prstGeom>
          <a:ln cap="flat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5150" y="703368"/>
            <a:ext cx="5326670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ech Stack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6704398" y="6344559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2"/>
                </a:lnTo>
                <a:lnTo>
                  <a:pt x="0" y="2080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898977" y="235238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07989" y="1078382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1" y="0"/>
                </a:lnTo>
                <a:lnTo>
                  <a:pt x="1936011" y="394243"/>
                </a:lnTo>
                <a:lnTo>
                  <a:pt x="0" y="39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201376" y="1996499"/>
          <a:ext cx="13885248" cy="7800975"/>
        </p:xfrm>
        <a:graphic>
          <a:graphicData uri="http://schemas.openxmlformats.org/drawingml/2006/table">
            <a:tbl>
              <a:tblPr/>
              <a:tblGrid>
                <a:gridCol w="6913722"/>
                <a:gridCol w="6971526"/>
              </a:tblGrid>
              <a:tr h="1052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Layer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03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PDF Parsing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pdfplumber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Web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Streamlit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PDF Generation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wkhtmltopdf (HTML → PDF)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93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NLP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Rule-based (regex + dictionary matching)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Domain Knowledge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Hardcoded dictionaries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16292" y="-405158"/>
            <a:ext cx="6139106" cy="11106862"/>
            <a:chOff x="0" y="0"/>
            <a:chExt cx="951108" cy="17207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108" cy="1720744"/>
            </a:xfrm>
            <a:custGeom>
              <a:avLst/>
              <a:gdLst/>
              <a:ahLst/>
              <a:cxnLst/>
              <a:rect r="r" b="b" t="t" l="l"/>
              <a:pathLst>
                <a:path h="1720744" w="951108">
                  <a:moveTo>
                    <a:pt x="65576" y="0"/>
                  </a:moveTo>
                  <a:lnTo>
                    <a:pt x="885532" y="0"/>
                  </a:lnTo>
                  <a:cubicBezTo>
                    <a:pt x="902924" y="0"/>
                    <a:pt x="919603" y="6909"/>
                    <a:pt x="931901" y="19207"/>
                  </a:cubicBezTo>
                  <a:cubicBezTo>
                    <a:pt x="944199" y="31505"/>
                    <a:pt x="951108" y="48184"/>
                    <a:pt x="951108" y="65576"/>
                  </a:cubicBezTo>
                  <a:lnTo>
                    <a:pt x="951108" y="1655167"/>
                  </a:lnTo>
                  <a:cubicBezTo>
                    <a:pt x="951108" y="1691384"/>
                    <a:pt x="921749" y="1720744"/>
                    <a:pt x="885532" y="1720744"/>
                  </a:cubicBezTo>
                  <a:lnTo>
                    <a:pt x="65576" y="1720744"/>
                  </a:lnTo>
                  <a:cubicBezTo>
                    <a:pt x="29360" y="1720744"/>
                    <a:pt x="0" y="1691384"/>
                    <a:pt x="0" y="1655167"/>
                  </a:cubicBezTo>
                  <a:lnTo>
                    <a:pt x="0" y="65576"/>
                  </a:lnTo>
                  <a:cubicBezTo>
                    <a:pt x="0" y="29360"/>
                    <a:pt x="29360" y="0"/>
                    <a:pt x="65576" y="0"/>
                  </a:cubicBezTo>
                  <a:close/>
                </a:path>
              </a:pathLst>
            </a:custGeom>
            <a:blipFill>
              <a:blip r:embed="rId2">
                <a:alphaModFix amt="65000"/>
              </a:blip>
              <a:stretch>
                <a:fillRect l="-40459" t="0" r="-40459" b="0"/>
              </a:stretch>
            </a:blipFill>
            <a:ln w="38100" cap="rnd">
              <a:solidFill>
                <a:srgbClr val="FFE6D0">
                  <a:alpha val="64706"/>
                </a:srgbClr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91997" y="4007999"/>
            <a:ext cx="821282" cy="8212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804938" y="422094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5289" y="4007999"/>
            <a:ext cx="821282" cy="8212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68230" y="422094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1997" y="2351833"/>
            <a:ext cx="821282" cy="8212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04938" y="2564774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955289" y="2351833"/>
            <a:ext cx="821282" cy="82128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D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168230" y="2564774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1028700" y="9248775"/>
            <a:ext cx="7178043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5400000">
            <a:off x="-918812" y="484243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876832" y="8829290"/>
            <a:ext cx="3418026" cy="838970"/>
          </a:xfrm>
          <a:custGeom>
            <a:avLst/>
            <a:gdLst/>
            <a:ahLst/>
            <a:cxnLst/>
            <a:rect r="r" b="b" t="t" l="l"/>
            <a:pathLst>
              <a:path h="838970" w="3418026">
                <a:moveTo>
                  <a:pt x="0" y="0"/>
                </a:moveTo>
                <a:lnTo>
                  <a:pt x="3418027" y="0"/>
                </a:lnTo>
                <a:lnTo>
                  <a:pt x="3418027" y="838970"/>
                </a:lnTo>
                <a:lnTo>
                  <a:pt x="0" y="838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0040" y="7978243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1" y="0"/>
                </a:lnTo>
                <a:lnTo>
                  <a:pt x="1936011" y="394242"/>
                </a:lnTo>
                <a:lnTo>
                  <a:pt x="0" y="3942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91997" y="6253476"/>
            <a:ext cx="7250127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 Limit</a:t>
            </a: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33194" y="3848728"/>
            <a:ext cx="373912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omain detection may misclassify hyb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rid or niche roles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96486" y="3848728"/>
            <a:ext cx="373912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Enha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ncement is rule-based, not g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enerative — no novel bullet creation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33194" y="2192562"/>
            <a:ext cx="355237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xt-based PDFs only — scanned/imag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e PDFs not supported yet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96486" y="2192562"/>
            <a:ext cx="355237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o multi-l</a:t>
            </a:r>
            <a:r>
              <a:rPr lang="en-US" sz="2000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anguage resume support currently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08532" y="-2056163"/>
            <a:ext cx="2934425" cy="4956573"/>
            <a:chOff x="0" y="0"/>
            <a:chExt cx="772853" cy="1305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2853" cy="1305435"/>
            </a:xfrm>
            <a:custGeom>
              <a:avLst/>
              <a:gdLst/>
              <a:ahLst/>
              <a:cxnLst/>
              <a:rect r="r" b="b" t="t" l="l"/>
              <a:pathLst>
                <a:path h="1305435" w="772853">
                  <a:moveTo>
                    <a:pt x="0" y="0"/>
                  </a:moveTo>
                  <a:lnTo>
                    <a:pt x="772853" y="0"/>
                  </a:lnTo>
                  <a:lnTo>
                    <a:pt x="772853" y="1305435"/>
                  </a:lnTo>
                  <a:lnTo>
                    <a:pt x="0" y="1305435"/>
                  </a:lnTo>
                  <a:close/>
                </a:path>
              </a:pathLst>
            </a:custGeom>
            <a:gradFill rotWithShape="true">
              <a:gsLst>
                <a:gs pos="0">
                  <a:srgbClr val="E39754">
                    <a:alpha val="100000"/>
                  </a:srgbClr>
                </a:gs>
                <a:gs pos="100000">
                  <a:srgbClr val="4611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72853" cy="1372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55093" y="1528745"/>
            <a:ext cx="7041302" cy="6566173"/>
            <a:chOff x="0" y="0"/>
            <a:chExt cx="1069836" cy="9976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36" cy="997646"/>
            </a:xfrm>
            <a:custGeom>
              <a:avLst/>
              <a:gdLst/>
              <a:ahLst/>
              <a:cxnLst/>
              <a:rect r="r" b="b" t="t" l="l"/>
              <a:pathLst>
                <a:path h="99764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940472"/>
                  </a:lnTo>
                  <a:cubicBezTo>
                    <a:pt x="1069836" y="955636"/>
                    <a:pt x="1063813" y="970178"/>
                    <a:pt x="1053090" y="980900"/>
                  </a:cubicBezTo>
                  <a:cubicBezTo>
                    <a:pt x="1042368" y="991623"/>
                    <a:pt x="1027826" y="997646"/>
                    <a:pt x="1012662" y="997646"/>
                  </a:cubicBezTo>
                  <a:lnTo>
                    <a:pt x="57174" y="997646"/>
                  </a:lnTo>
                  <a:cubicBezTo>
                    <a:pt x="42011" y="997646"/>
                    <a:pt x="27468" y="991623"/>
                    <a:pt x="16746" y="980900"/>
                  </a:cubicBezTo>
                  <a:cubicBezTo>
                    <a:pt x="6024" y="970178"/>
                    <a:pt x="0" y="955636"/>
                    <a:pt x="0" y="94047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477" r="0" b="-30477"/>
              </a:stretch>
            </a:blipFill>
            <a:ln w="38100" cap="rnd">
              <a:solidFill>
                <a:srgbClr val="FFE6D0"/>
              </a:solidFill>
              <a:prstDash val="solid"/>
              <a:round/>
            </a:ln>
          </p:spPr>
        </p:sp>
      </p:grpSp>
      <p:sp>
        <p:nvSpPr>
          <p:cNvPr name="AutoShape 7" id="7"/>
          <p:cNvSpPr/>
          <p:nvPr/>
        </p:nvSpPr>
        <p:spPr>
          <a:xfrm>
            <a:off x="1028700" y="9248775"/>
            <a:ext cx="12202228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6854498" y="849070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2" y="0"/>
                </a:lnTo>
                <a:lnTo>
                  <a:pt x="2080532" y="2080531"/>
                </a:lnTo>
                <a:lnTo>
                  <a:pt x="0" y="208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028700" y="5897711"/>
            <a:ext cx="2080531" cy="2080531"/>
          </a:xfrm>
          <a:custGeom>
            <a:avLst/>
            <a:gdLst/>
            <a:ahLst/>
            <a:cxnLst/>
            <a:rect r="r" b="b" t="t" l="l"/>
            <a:pathLst>
              <a:path h="2080531" w="2080531">
                <a:moveTo>
                  <a:pt x="0" y="0"/>
                </a:moveTo>
                <a:lnTo>
                  <a:pt x="2080531" y="0"/>
                </a:lnTo>
                <a:lnTo>
                  <a:pt x="2080531" y="2080532"/>
                </a:lnTo>
                <a:lnTo>
                  <a:pt x="0" y="2080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32297" y="6031059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1" y="0"/>
                </a:lnTo>
                <a:lnTo>
                  <a:pt x="1936011" y="394242"/>
                </a:lnTo>
                <a:lnTo>
                  <a:pt x="0" y="3942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04843" y="2815582"/>
            <a:ext cx="1936011" cy="394242"/>
          </a:xfrm>
          <a:custGeom>
            <a:avLst/>
            <a:gdLst/>
            <a:ahLst/>
            <a:cxnLst/>
            <a:rect r="r" b="b" t="t" l="l"/>
            <a:pathLst>
              <a:path h="394242" w="1936011">
                <a:moveTo>
                  <a:pt x="0" y="0"/>
                </a:moveTo>
                <a:lnTo>
                  <a:pt x="1936011" y="0"/>
                </a:lnTo>
                <a:lnTo>
                  <a:pt x="1936011" y="394242"/>
                </a:lnTo>
                <a:lnTo>
                  <a:pt x="0" y="3942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18913" y="1462070"/>
            <a:ext cx="5913994" cy="5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LLM-powe</a:t>
            </a: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red bullet point generation (GPT / local models)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LinkedIn profile import for auto-population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Cover letter generator tailored to the JD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Interview question predictor based on resume gaps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Multi-language support (Hindi, Spanish, French)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E6D0"/>
                </a:solidFill>
                <a:latin typeface="Poppins"/>
                <a:ea typeface="Poppins"/>
                <a:cs typeface="Poppins"/>
                <a:sym typeface="Poppins"/>
              </a:rPr>
              <a:t>Chrome extension for one-click apply + enhance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018913" y="7189512"/>
            <a:ext cx="7240387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</a:t>
            </a:r>
            <a:r>
              <a:rPr lang="en-US" sz="6800" b="tru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ure Scope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08" r="-450" b="-2435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4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042886" y="9239250"/>
            <a:ext cx="12202228" cy="0"/>
          </a:xfrm>
          <a:prstGeom prst="line">
            <a:avLst/>
          </a:prstGeom>
          <a:ln cap="rnd" w="38100">
            <a:solidFill>
              <a:srgbClr val="FFE6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434987" y="6765968"/>
            <a:ext cx="3418026" cy="838970"/>
          </a:xfrm>
          <a:custGeom>
            <a:avLst/>
            <a:gdLst/>
            <a:ahLst/>
            <a:cxnLst/>
            <a:rect r="r" b="b" t="t" l="l"/>
            <a:pathLst>
              <a:path h="838970" w="3418026">
                <a:moveTo>
                  <a:pt x="0" y="0"/>
                </a:moveTo>
                <a:lnTo>
                  <a:pt x="3418026" y="0"/>
                </a:lnTo>
                <a:lnTo>
                  <a:pt x="3418026" y="838971"/>
                </a:lnTo>
                <a:lnTo>
                  <a:pt x="0" y="838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31825" y="6016033"/>
            <a:ext cx="1913162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b="true" sz="2599" spc="-64">
                <a:solidFill>
                  <a:srgbClr val="7140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Contact 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2685" y="4381500"/>
            <a:ext cx="6838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679"/>
              </a:lnSpc>
              <a:spcBef>
                <a:spcPct val="0"/>
              </a:spcBef>
            </a:pPr>
            <a:r>
              <a:rPr lang="en-US" b="true" sz="8899" strike="noStrike" u="none">
                <a:solidFill>
                  <a:srgbClr val="FFE6D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DAHFhfyfZwA</dc:identifier>
  <dcterms:modified xsi:type="dcterms:W3CDTF">2011-08-01T06:04:30Z</dcterms:modified>
  <cp:revision>1</cp:revision>
  <dc:title>AI RESUME ENHANCER</dc:title>
</cp:coreProperties>
</file>